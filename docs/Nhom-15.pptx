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uda Bold" panose="020B0604020202020204" charset="0"/>
      <p:regular r:id="rId17"/>
    </p:embeddedFont>
    <p:embeddedFont>
      <p:font typeface="Stella" charset="0"/>
      <p:regular r:id="rId18"/>
    </p:embeddedFont>
    <p:embeddedFont>
      <p:font typeface="Open Sans" panose="020B0604020202020204" charset="0"/>
      <p:regular r:id="rId19"/>
    </p:embeddedFont>
    <p:embeddedFont>
      <p:font typeface="Ruda" panose="020B0604020202020204" charset="0"/>
      <p:regular r:id="rId20"/>
    </p:embeddedFont>
    <p:embeddedFont>
      <p:font typeface="Ruda Heavy" panose="020B0604020202020204" charset="0"/>
      <p:regular r:id="rId21"/>
    </p:embeddedFont>
    <p:embeddedFont>
      <p:font typeface="Open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7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3DB65-65BD-4E74-B0F6-130B86CF83F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B3DA4-B87A-4056-BB95-41FEC194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221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E8A90-4C28-47CA-9693-36388DD4237C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682B9-CA4F-48C9-BFCE-B65FF8340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5029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682B9-CA4F-48C9-BFCE-B65FF8340E25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1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682B9-CA4F-48C9-BFCE-B65FF8340E25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58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C682B9-CA4F-48C9-BFCE-B65FF8340E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9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EF893-C404-47B8-BD35-271D336104CC}" type="datetime1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06466-2AF1-4631-BF2E-79B261E5CEF4}" type="datetime1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CA228-1EBE-4F30-9D4F-4BD8E062DF2C}" type="datetime1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BAF9-57D5-4D32-B058-E154319753B5}" type="datetime1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300E-F98C-4F4C-9A72-9127B34AB996}" type="datetime1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D5379-DACC-4C9D-A710-14471AE85C12}" type="datetime1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65DB-F695-468F-849D-EA63D7B270B6}" type="datetime1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55DD-B246-4F99-A30D-6414A380DEB8}" type="datetime1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C376-8BBA-4D0E-A8F7-A915764A9746}" type="datetime1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0073-3302-44A7-B561-A1C0A3A24FF7}" type="datetime1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A31B-6E7B-40B9-9B5B-3430844C4AB8}" type="datetime1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EB904-7DCD-4931-8F9A-584C3D8FD7BA}" type="datetime1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32999" y="7693559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97601" y="-743723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38259" y="8442759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84140" y="6101325"/>
            <a:ext cx="2583652" cy="2341434"/>
          </a:xfrm>
          <a:custGeom>
            <a:avLst/>
            <a:gdLst/>
            <a:ahLst/>
            <a:cxnLst/>
            <a:rect l="l" t="t" r="r" b="b"/>
            <a:pathLst>
              <a:path w="2583652" h="2341434">
                <a:moveTo>
                  <a:pt x="0" y="0"/>
                </a:moveTo>
                <a:lnTo>
                  <a:pt x="2583651" y="0"/>
                </a:lnTo>
                <a:lnTo>
                  <a:pt x="2583651" y="2341434"/>
                </a:lnTo>
                <a:lnTo>
                  <a:pt x="0" y="23414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95635" y="765101"/>
            <a:ext cx="3538353" cy="3281823"/>
          </a:xfrm>
          <a:custGeom>
            <a:avLst/>
            <a:gdLst/>
            <a:ahLst/>
            <a:cxnLst/>
            <a:rect l="l" t="t" r="r" b="b"/>
            <a:pathLst>
              <a:path w="3538353" h="3281823">
                <a:moveTo>
                  <a:pt x="0" y="0"/>
                </a:moveTo>
                <a:lnTo>
                  <a:pt x="3538354" y="0"/>
                </a:lnTo>
                <a:lnTo>
                  <a:pt x="3538354" y="3281822"/>
                </a:lnTo>
                <a:lnTo>
                  <a:pt x="0" y="32818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111316" y="3336289"/>
            <a:ext cx="10354563" cy="417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12"/>
              </a:lnSpc>
            </a:pPr>
            <a:r>
              <a:rPr lang="en-US" sz="18060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GOLD DIGGER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49710" y="8260466"/>
            <a:ext cx="8277776" cy="49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3"/>
              </a:lnSpc>
            </a:pPr>
            <a:r>
              <a:rPr lang="en-US" sz="4153" b="1" dirty="0">
                <a:solidFill>
                  <a:srgbClr val="593A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 </a:t>
            </a:r>
            <a:r>
              <a:rPr lang="vi-VN" sz="4153" b="1" dirty="0" smtClean="0">
                <a:solidFill>
                  <a:srgbClr val="593A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Group 15</a:t>
            </a:r>
            <a:endParaRPr lang="en-US" sz="4153" b="1" dirty="0">
              <a:solidFill>
                <a:srgbClr val="593A1E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8002241" y="9718750"/>
            <a:ext cx="2895600" cy="365125"/>
          </a:xfrm>
        </p:spPr>
        <p:txBody>
          <a:bodyPr/>
          <a:lstStyle/>
          <a:p>
            <a:r>
              <a:rPr lang="vi-VN" sz="2400" dirty="0" smtClean="0"/>
              <a:t>01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32999" y="7693559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97601" y="-743723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38259" y="8442759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876655" y="5111305"/>
            <a:ext cx="6534690" cy="902626"/>
            <a:chOff x="0" y="0"/>
            <a:chExt cx="1721071" cy="2377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1071" cy="237729"/>
            </a:xfrm>
            <a:custGeom>
              <a:avLst/>
              <a:gdLst/>
              <a:ahLst/>
              <a:cxnLst/>
              <a:rect l="l" t="t" r="r" b="b"/>
              <a:pathLst>
                <a:path w="1721071" h="237729">
                  <a:moveTo>
                    <a:pt x="0" y="0"/>
                  </a:moveTo>
                  <a:lnTo>
                    <a:pt x="1721071" y="0"/>
                  </a:lnTo>
                  <a:lnTo>
                    <a:pt x="1721071" y="237729"/>
                  </a:lnTo>
                  <a:lnTo>
                    <a:pt x="0" y="237729"/>
                  </a:lnTo>
                  <a:close/>
                </a:path>
              </a:pathLst>
            </a:custGeom>
            <a:solidFill>
              <a:srgbClr val="86614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21071" cy="27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36836" y="2950503"/>
            <a:ext cx="12986864" cy="13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7"/>
              </a:lnSpc>
            </a:pPr>
            <a:r>
              <a:rPr lang="en-US" sz="10974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THÀNH VIÊN NHÓM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62923" y="5456045"/>
            <a:ext cx="4263806" cy="47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3625" lvl="1" indent="-426812" algn="l">
              <a:lnSpc>
                <a:spcPts val="3439"/>
              </a:lnSpc>
              <a:buFont typeface="Arial"/>
              <a:buChar char="•"/>
            </a:pPr>
            <a:r>
              <a:rPr lang="en-US" sz="3953">
                <a:solidFill>
                  <a:srgbClr val="FFF7D3"/>
                </a:solidFill>
                <a:latin typeface="Ruda"/>
                <a:ea typeface="Ruda"/>
                <a:cs typeface="Ruda"/>
                <a:sym typeface="Ruda"/>
              </a:rPr>
              <a:t>Lê Viết Bảo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876655" y="6402799"/>
            <a:ext cx="6534690" cy="902626"/>
            <a:chOff x="0" y="0"/>
            <a:chExt cx="1721071" cy="2377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21071" cy="237729"/>
            </a:xfrm>
            <a:custGeom>
              <a:avLst/>
              <a:gdLst/>
              <a:ahLst/>
              <a:cxnLst/>
              <a:rect l="l" t="t" r="r" b="b"/>
              <a:pathLst>
                <a:path w="1721071" h="237729">
                  <a:moveTo>
                    <a:pt x="0" y="0"/>
                  </a:moveTo>
                  <a:lnTo>
                    <a:pt x="1721071" y="0"/>
                  </a:lnTo>
                  <a:lnTo>
                    <a:pt x="1721071" y="237729"/>
                  </a:lnTo>
                  <a:lnTo>
                    <a:pt x="0" y="237729"/>
                  </a:lnTo>
                  <a:close/>
                </a:path>
              </a:pathLst>
            </a:custGeom>
            <a:solidFill>
              <a:srgbClr val="86614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21071" cy="27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862923" y="6680773"/>
            <a:ext cx="6534690" cy="47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3625" lvl="1" indent="-426812" algn="l">
              <a:lnSpc>
                <a:spcPts val="3439"/>
              </a:lnSpc>
              <a:buFont typeface="Arial"/>
              <a:buChar char="•"/>
            </a:pPr>
            <a:r>
              <a:rPr lang="en-US" sz="3953">
                <a:solidFill>
                  <a:srgbClr val="FFF7D3"/>
                </a:solidFill>
                <a:latin typeface="Ruda"/>
                <a:ea typeface="Ruda"/>
                <a:cs typeface="Ruda"/>
                <a:sym typeface="Ruda"/>
              </a:rPr>
              <a:t>Trương Nhật Phương Vy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876655" y="7629903"/>
            <a:ext cx="6534690" cy="902626"/>
            <a:chOff x="0" y="0"/>
            <a:chExt cx="1721071" cy="23772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21071" cy="237729"/>
            </a:xfrm>
            <a:custGeom>
              <a:avLst/>
              <a:gdLst/>
              <a:ahLst/>
              <a:cxnLst/>
              <a:rect l="l" t="t" r="r" b="b"/>
              <a:pathLst>
                <a:path w="1721071" h="237729">
                  <a:moveTo>
                    <a:pt x="0" y="0"/>
                  </a:moveTo>
                  <a:lnTo>
                    <a:pt x="1721071" y="0"/>
                  </a:lnTo>
                  <a:lnTo>
                    <a:pt x="1721071" y="237729"/>
                  </a:lnTo>
                  <a:lnTo>
                    <a:pt x="0" y="237729"/>
                  </a:lnTo>
                  <a:close/>
                </a:path>
              </a:pathLst>
            </a:custGeom>
            <a:solidFill>
              <a:srgbClr val="866147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21071" cy="27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876655" y="7907877"/>
            <a:ext cx="5262995" cy="47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3625" lvl="1" indent="-426812" algn="l">
              <a:lnSpc>
                <a:spcPts val="3439"/>
              </a:lnSpc>
              <a:buFont typeface="Arial"/>
              <a:buChar char="•"/>
            </a:pPr>
            <a:r>
              <a:rPr lang="en-US" sz="3953">
                <a:solidFill>
                  <a:srgbClr val="FFF7D3"/>
                </a:solidFill>
                <a:latin typeface="Ruda"/>
                <a:ea typeface="Ruda"/>
                <a:cs typeface="Ruda"/>
                <a:sym typeface="Ruda"/>
              </a:rPr>
              <a:t>Nguyễn Hải Yến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620000" y="9715500"/>
            <a:ext cx="2895600" cy="365125"/>
          </a:xfrm>
        </p:spPr>
        <p:txBody>
          <a:bodyPr/>
          <a:lstStyle/>
          <a:p>
            <a:r>
              <a:rPr lang="vi-VN" sz="2400" dirty="0" smtClean="0"/>
              <a:t>02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915130" y="-776885"/>
            <a:ext cx="4420690" cy="3182897"/>
          </a:xfrm>
          <a:custGeom>
            <a:avLst/>
            <a:gdLst/>
            <a:ahLst/>
            <a:cxnLst/>
            <a:rect l="l" t="t" r="r" b="b"/>
            <a:pathLst>
              <a:path w="4420690" h="3182897">
                <a:moveTo>
                  <a:pt x="4420690" y="3182897"/>
                </a:moveTo>
                <a:lnTo>
                  <a:pt x="0" y="3182897"/>
                </a:lnTo>
                <a:lnTo>
                  <a:pt x="0" y="0"/>
                </a:lnTo>
                <a:lnTo>
                  <a:pt x="4420690" y="0"/>
                </a:lnTo>
                <a:lnTo>
                  <a:pt x="4420690" y="31828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96810" y="8726704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0" y="0"/>
                </a:lnTo>
                <a:lnTo>
                  <a:pt x="4057330" y="3688483"/>
                </a:lnTo>
                <a:lnTo>
                  <a:pt x="0" y="36884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21846" y="800118"/>
            <a:ext cx="11644307" cy="13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7"/>
              </a:lnSpc>
            </a:pPr>
            <a:r>
              <a:rPr lang="en-US" sz="10974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MỤC TIÊU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86570" y="2809318"/>
            <a:ext cx="1361024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93A1E"/>
                </a:solidFill>
                <a:latin typeface="Open Sans"/>
                <a:ea typeface="Open Sans"/>
                <a:cs typeface="Open Sans"/>
                <a:sym typeface="Open Sans"/>
              </a:rPr>
              <a:t>Phát triển trò chơi “Đào vàng” bằng cách sử dụng ngôn ngữ C# để xây dựng các thành phần của game.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86570" y="4519930"/>
            <a:ext cx="1361024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593A1E"/>
                </a:solidFill>
                <a:latin typeface="Open Sans"/>
                <a:ea typeface="Open Sans"/>
                <a:cs typeface="Open Sans"/>
                <a:sym typeface="Open Sans"/>
              </a:rPr>
              <a:t>Áp dụng kiến thức về lập trình C# và công cụ game để tạo sản phẩm game giải trí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14697" y="6271185"/>
            <a:ext cx="13682113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593A1E"/>
                </a:solidFill>
                <a:latin typeface="Open Sans"/>
                <a:ea typeface="Open Sans"/>
                <a:cs typeface="Open Sans"/>
                <a:sym typeface="Open Sans"/>
              </a:rPr>
              <a:t>Tìm kiếm và triển khai các cơ chế chơi mới lạ, sáng tạo để trò chơi có sự khác biệt trong cùng thể loại.</a:t>
            </a:r>
          </a:p>
        </p:txBody>
      </p:sp>
      <p:sp>
        <p:nvSpPr>
          <p:cNvPr id="11" name="Freeform 11"/>
          <p:cNvSpPr/>
          <p:nvPr/>
        </p:nvSpPr>
        <p:spPr>
          <a:xfrm>
            <a:off x="-2201153" y="8105625"/>
            <a:ext cx="4615850" cy="3323412"/>
          </a:xfrm>
          <a:custGeom>
            <a:avLst/>
            <a:gdLst/>
            <a:ahLst/>
            <a:cxnLst/>
            <a:rect l="l" t="t" r="r" b="b"/>
            <a:pathLst>
              <a:path w="4615850" h="3323412">
                <a:moveTo>
                  <a:pt x="0" y="0"/>
                </a:moveTo>
                <a:lnTo>
                  <a:pt x="4615850" y="0"/>
                </a:lnTo>
                <a:lnTo>
                  <a:pt x="4615850" y="3323412"/>
                </a:lnTo>
                <a:lnTo>
                  <a:pt x="0" y="3323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86570" y="8020610"/>
            <a:ext cx="14398377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593A1E"/>
                </a:solidFill>
                <a:latin typeface="Open Sans"/>
                <a:ea typeface="Open Sans"/>
                <a:cs typeface="Open Sans"/>
                <a:sym typeface="Open Sans"/>
              </a:rPr>
              <a:t>Tối ưu hóa hiệu suất để game chạy mượt mà trên đa nền tảng 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8077200" y="9729634"/>
            <a:ext cx="2895600" cy="365125"/>
          </a:xfrm>
        </p:spPr>
        <p:txBody>
          <a:bodyPr/>
          <a:lstStyle/>
          <a:p>
            <a:r>
              <a:rPr lang="vi-VN" sz="2400" dirty="0" smtClean="0"/>
              <a:t>03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01153" y="7690290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97601" y="-743723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096810" y="8631080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0" y="0"/>
                </a:lnTo>
                <a:lnTo>
                  <a:pt x="4057330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2037948" y="-1526013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336653" y="2951256"/>
            <a:ext cx="12451639" cy="2039909"/>
            <a:chOff x="0" y="0"/>
            <a:chExt cx="3279444" cy="5372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79444" cy="537260"/>
            </a:xfrm>
            <a:custGeom>
              <a:avLst/>
              <a:gdLst/>
              <a:ahLst/>
              <a:cxnLst/>
              <a:rect l="l" t="t" r="r" b="b"/>
              <a:pathLst>
                <a:path w="3279444" h="537260">
                  <a:moveTo>
                    <a:pt x="31710" y="0"/>
                  </a:moveTo>
                  <a:lnTo>
                    <a:pt x="3247734" y="0"/>
                  </a:lnTo>
                  <a:cubicBezTo>
                    <a:pt x="3256144" y="0"/>
                    <a:pt x="3264210" y="3341"/>
                    <a:pt x="3270157" y="9288"/>
                  </a:cubicBezTo>
                  <a:cubicBezTo>
                    <a:pt x="3276103" y="15234"/>
                    <a:pt x="3279444" y="23300"/>
                    <a:pt x="3279444" y="31710"/>
                  </a:cubicBezTo>
                  <a:lnTo>
                    <a:pt x="3279444" y="505550"/>
                  </a:lnTo>
                  <a:cubicBezTo>
                    <a:pt x="3279444" y="523063"/>
                    <a:pt x="3265247" y="537260"/>
                    <a:pt x="3247734" y="537260"/>
                  </a:cubicBezTo>
                  <a:lnTo>
                    <a:pt x="31710" y="537260"/>
                  </a:lnTo>
                  <a:cubicBezTo>
                    <a:pt x="23300" y="537260"/>
                    <a:pt x="15234" y="533919"/>
                    <a:pt x="9288" y="527972"/>
                  </a:cubicBezTo>
                  <a:cubicBezTo>
                    <a:pt x="3341" y="522026"/>
                    <a:pt x="0" y="513960"/>
                    <a:pt x="0" y="505550"/>
                  </a:cubicBezTo>
                  <a:lnTo>
                    <a:pt x="0" y="31710"/>
                  </a:lnTo>
                  <a:cubicBezTo>
                    <a:pt x="0" y="23300"/>
                    <a:pt x="3341" y="15234"/>
                    <a:pt x="9288" y="9288"/>
                  </a:cubicBezTo>
                  <a:cubicBezTo>
                    <a:pt x="15234" y="3341"/>
                    <a:pt x="23300" y="0"/>
                    <a:pt x="31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79444" cy="575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22275" y="3111654"/>
            <a:ext cx="12260090" cy="1746607"/>
            <a:chOff x="0" y="0"/>
            <a:chExt cx="3228995" cy="4600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28995" cy="460012"/>
            </a:xfrm>
            <a:custGeom>
              <a:avLst/>
              <a:gdLst/>
              <a:ahLst/>
              <a:cxnLst/>
              <a:rect l="l" t="t" r="r" b="b"/>
              <a:pathLst>
                <a:path w="3228995" h="460012">
                  <a:moveTo>
                    <a:pt x="32205" y="0"/>
                  </a:moveTo>
                  <a:lnTo>
                    <a:pt x="3196790" y="0"/>
                  </a:lnTo>
                  <a:cubicBezTo>
                    <a:pt x="3205331" y="0"/>
                    <a:pt x="3213522" y="3393"/>
                    <a:pt x="3219562" y="9433"/>
                  </a:cubicBezTo>
                  <a:cubicBezTo>
                    <a:pt x="3225602" y="15472"/>
                    <a:pt x="3228995" y="23664"/>
                    <a:pt x="3228995" y="32205"/>
                  </a:cubicBezTo>
                  <a:lnTo>
                    <a:pt x="3228995" y="427806"/>
                  </a:lnTo>
                  <a:cubicBezTo>
                    <a:pt x="3228995" y="436348"/>
                    <a:pt x="3225602" y="444539"/>
                    <a:pt x="3219562" y="450579"/>
                  </a:cubicBezTo>
                  <a:cubicBezTo>
                    <a:pt x="3213522" y="456619"/>
                    <a:pt x="3205331" y="460012"/>
                    <a:pt x="3196790" y="460012"/>
                  </a:cubicBezTo>
                  <a:lnTo>
                    <a:pt x="32205" y="460012"/>
                  </a:lnTo>
                  <a:cubicBezTo>
                    <a:pt x="14419" y="460012"/>
                    <a:pt x="0" y="445593"/>
                    <a:pt x="0" y="427806"/>
                  </a:cubicBezTo>
                  <a:lnTo>
                    <a:pt x="0" y="32205"/>
                  </a:lnTo>
                  <a:cubicBezTo>
                    <a:pt x="0" y="23664"/>
                    <a:pt x="3393" y="15472"/>
                    <a:pt x="9433" y="9433"/>
                  </a:cubicBezTo>
                  <a:cubicBezTo>
                    <a:pt x="15472" y="3393"/>
                    <a:pt x="23664" y="0"/>
                    <a:pt x="322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228995" cy="49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70354" y="2951256"/>
            <a:ext cx="2440091" cy="2039909"/>
            <a:chOff x="0" y="0"/>
            <a:chExt cx="812800" cy="6794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679499"/>
            </a:xfrm>
            <a:custGeom>
              <a:avLst/>
              <a:gdLst/>
              <a:ahLst/>
              <a:cxnLst/>
              <a:rect l="l" t="t" r="r" b="b"/>
              <a:pathLst>
                <a:path w="812800" h="679499">
                  <a:moveTo>
                    <a:pt x="406400" y="0"/>
                  </a:moveTo>
                  <a:cubicBezTo>
                    <a:pt x="181951" y="0"/>
                    <a:pt x="0" y="152111"/>
                    <a:pt x="0" y="339749"/>
                  </a:cubicBezTo>
                  <a:cubicBezTo>
                    <a:pt x="0" y="527388"/>
                    <a:pt x="181951" y="679499"/>
                    <a:pt x="406400" y="679499"/>
                  </a:cubicBezTo>
                  <a:cubicBezTo>
                    <a:pt x="630849" y="679499"/>
                    <a:pt x="812800" y="527388"/>
                    <a:pt x="812800" y="339749"/>
                  </a:cubicBezTo>
                  <a:cubicBezTo>
                    <a:pt x="812800" y="15211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5603"/>
              <a:ext cx="660400" cy="590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20536" y="3094376"/>
            <a:ext cx="2139726" cy="1746607"/>
            <a:chOff x="0" y="0"/>
            <a:chExt cx="812800" cy="6634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663469"/>
            </a:xfrm>
            <a:custGeom>
              <a:avLst/>
              <a:gdLst/>
              <a:ahLst/>
              <a:cxnLst/>
              <a:rect l="l" t="t" r="r" b="b"/>
              <a:pathLst>
                <a:path w="812800" h="663469">
                  <a:moveTo>
                    <a:pt x="406400" y="0"/>
                  </a:moveTo>
                  <a:cubicBezTo>
                    <a:pt x="181951" y="0"/>
                    <a:pt x="0" y="148523"/>
                    <a:pt x="0" y="331735"/>
                  </a:cubicBezTo>
                  <a:cubicBezTo>
                    <a:pt x="0" y="514946"/>
                    <a:pt x="181951" y="663469"/>
                    <a:pt x="406400" y="663469"/>
                  </a:cubicBezTo>
                  <a:cubicBezTo>
                    <a:pt x="630849" y="663469"/>
                    <a:pt x="812800" y="514946"/>
                    <a:pt x="812800" y="331735"/>
                  </a:cubicBezTo>
                  <a:cubicBezTo>
                    <a:pt x="812800" y="14852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4AC78"/>
              </a:solidFill>
              <a:prstDash val="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4100"/>
              <a:ext cx="660400" cy="577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36653" y="5494645"/>
            <a:ext cx="12451639" cy="2039909"/>
            <a:chOff x="0" y="0"/>
            <a:chExt cx="3279444" cy="5372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79444" cy="537260"/>
            </a:xfrm>
            <a:custGeom>
              <a:avLst/>
              <a:gdLst/>
              <a:ahLst/>
              <a:cxnLst/>
              <a:rect l="l" t="t" r="r" b="b"/>
              <a:pathLst>
                <a:path w="3279444" h="537260">
                  <a:moveTo>
                    <a:pt x="31710" y="0"/>
                  </a:moveTo>
                  <a:lnTo>
                    <a:pt x="3247734" y="0"/>
                  </a:lnTo>
                  <a:cubicBezTo>
                    <a:pt x="3256144" y="0"/>
                    <a:pt x="3264210" y="3341"/>
                    <a:pt x="3270157" y="9288"/>
                  </a:cubicBezTo>
                  <a:cubicBezTo>
                    <a:pt x="3276103" y="15234"/>
                    <a:pt x="3279444" y="23300"/>
                    <a:pt x="3279444" y="31710"/>
                  </a:cubicBezTo>
                  <a:lnTo>
                    <a:pt x="3279444" y="505550"/>
                  </a:lnTo>
                  <a:cubicBezTo>
                    <a:pt x="3279444" y="523063"/>
                    <a:pt x="3265247" y="537260"/>
                    <a:pt x="3247734" y="537260"/>
                  </a:cubicBezTo>
                  <a:lnTo>
                    <a:pt x="31710" y="537260"/>
                  </a:lnTo>
                  <a:cubicBezTo>
                    <a:pt x="23300" y="537260"/>
                    <a:pt x="15234" y="533919"/>
                    <a:pt x="9288" y="527972"/>
                  </a:cubicBezTo>
                  <a:cubicBezTo>
                    <a:pt x="3341" y="522026"/>
                    <a:pt x="0" y="513960"/>
                    <a:pt x="0" y="505550"/>
                  </a:cubicBezTo>
                  <a:lnTo>
                    <a:pt x="0" y="31710"/>
                  </a:lnTo>
                  <a:cubicBezTo>
                    <a:pt x="0" y="23300"/>
                    <a:pt x="3341" y="15234"/>
                    <a:pt x="9288" y="9288"/>
                  </a:cubicBezTo>
                  <a:cubicBezTo>
                    <a:pt x="15234" y="3341"/>
                    <a:pt x="23300" y="0"/>
                    <a:pt x="31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279444" cy="575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336653" y="7867929"/>
            <a:ext cx="12451639" cy="1905497"/>
            <a:chOff x="0" y="0"/>
            <a:chExt cx="3279444" cy="5372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79444" cy="537260"/>
            </a:xfrm>
            <a:custGeom>
              <a:avLst/>
              <a:gdLst/>
              <a:ahLst/>
              <a:cxnLst/>
              <a:rect l="l" t="t" r="r" b="b"/>
              <a:pathLst>
                <a:path w="3279444" h="537260">
                  <a:moveTo>
                    <a:pt x="31710" y="0"/>
                  </a:moveTo>
                  <a:lnTo>
                    <a:pt x="3247734" y="0"/>
                  </a:lnTo>
                  <a:cubicBezTo>
                    <a:pt x="3256144" y="0"/>
                    <a:pt x="3264210" y="3341"/>
                    <a:pt x="3270157" y="9288"/>
                  </a:cubicBezTo>
                  <a:cubicBezTo>
                    <a:pt x="3276103" y="15234"/>
                    <a:pt x="3279444" y="23300"/>
                    <a:pt x="3279444" y="31710"/>
                  </a:cubicBezTo>
                  <a:lnTo>
                    <a:pt x="3279444" y="505550"/>
                  </a:lnTo>
                  <a:cubicBezTo>
                    <a:pt x="3279444" y="523063"/>
                    <a:pt x="3265247" y="537260"/>
                    <a:pt x="3247734" y="537260"/>
                  </a:cubicBezTo>
                  <a:lnTo>
                    <a:pt x="31710" y="537260"/>
                  </a:lnTo>
                  <a:cubicBezTo>
                    <a:pt x="23300" y="537260"/>
                    <a:pt x="15234" y="533919"/>
                    <a:pt x="9288" y="527972"/>
                  </a:cubicBezTo>
                  <a:cubicBezTo>
                    <a:pt x="3341" y="522026"/>
                    <a:pt x="0" y="513960"/>
                    <a:pt x="0" y="505550"/>
                  </a:cubicBezTo>
                  <a:lnTo>
                    <a:pt x="0" y="31710"/>
                  </a:lnTo>
                  <a:cubicBezTo>
                    <a:pt x="0" y="23300"/>
                    <a:pt x="3341" y="15234"/>
                    <a:pt x="9288" y="9288"/>
                  </a:cubicBezTo>
                  <a:cubicBezTo>
                    <a:pt x="15234" y="3341"/>
                    <a:pt x="23300" y="0"/>
                    <a:pt x="31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279444" cy="575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490399" y="5660347"/>
            <a:ext cx="12260090" cy="1746607"/>
            <a:chOff x="0" y="0"/>
            <a:chExt cx="3228995" cy="4600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28995" cy="460012"/>
            </a:xfrm>
            <a:custGeom>
              <a:avLst/>
              <a:gdLst/>
              <a:ahLst/>
              <a:cxnLst/>
              <a:rect l="l" t="t" r="r" b="b"/>
              <a:pathLst>
                <a:path w="3228995" h="460012">
                  <a:moveTo>
                    <a:pt x="32205" y="0"/>
                  </a:moveTo>
                  <a:lnTo>
                    <a:pt x="3196790" y="0"/>
                  </a:lnTo>
                  <a:cubicBezTo>
                    <a:pt x="3205331" y="0"/>
                    <a:pt x="3213522" y="3393"/>
                    <a:pt x="3219562" y="9433"/>
                  </a:cubicBezTo>
                  <a:cubicBezTo>
                    <a:pt x="3225602" y="15472"/>
                    <a:pt x="3228995" y="23664"/>
                    <a:pt x="3228995" y="32205"/>
                  </a:cubicBezTo>
                  <a:lnTo>
                    <a:pt x="3228995" y="427806"/>
                  </a:lnTo>
                  <a:cubicBezTo>
                    <a:pt x="3228995" y="436348"/>
                    <a:pt x="3225602" y="444539"/>
                    <a:pt x="3219562" y="450579"/>
                  </a:cubicBezTo>
                  <a:cubicBezTo>
                    <a:pt x="3213522" y="456619"/>
                    <a:pt x="3205331" y="460012"/>
                    <a:pt x="3196790" y="460012"/>
                  </a:cubicBezTo>
                  <a:lnTo>
                    <a:pt x="32205" y="460012"/>
                  </a:lnTo>
                  <a:cubicBezTo>
                    <a:pt x="14419" y="460012"/>
                    <a:pt x="0" y="445593"/>
                    <a:pt x="0" y="427806"/>
                  </a:cubicBezTo>
                  <a:lnTo>
                    <a:pt x="0" y="32205"/>
                  </a:lnTo>
                  <a:cubicBezTo>
                    <a:pt x="0" y="23664"/>
                    <a:pt x="3393" y="15472"/>
                    <a:pt x="9433" y="9433"/>
                  </a:cubicBezTo>
                  <a:cubicBezTo>
                    <a:pt x="15472" y="3393"/>
                    <a:pt x="23664" y="0"/>
                    <a:pt x="322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228995" cy="49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32428" y="7991754"/>
            <a:ext cx="12260090" cy="1582863"/>
            <a:chOff x="0" y="0"/>
            <a:chExt cx="3228995" cy="4600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28995" cy="460012"/>
            </a:xfrm>
            <a:custGeom>
              <a:avLst/>
              <a:gdLst/>
              <a:ahLst/>
              <a:cxnLst/>
              <a:rect l="l" t="t" r="r" b="b"/>
              <a:pathLst>
                <a:path w="3228995" h="460012">
                  <a:moveTo>
                    <a:pt x="32205" y="0"/>
                  </a:moveTo>
                  <a:lnTo>
                    <a:pt x="3196790" y="0"/>
                  </a:lnTo>
                  <a:cubicBezTo>
                    <a:pt x="3205331" y="0"/>
                    <a:pt x="3213522" y="3393"/>
                    <a:pt x="3219562" y="9433"/>
                  </a:cubicBezTo>
                  <a:cubicBezTo>
                    <a:pt x="3225602" y="15472"/>
                    <a:pt x="3228995" y="23664"/>
                    <a:pt x="3228995" y="32205"/>
                  </a:cubicBezTo>
                  <a:lnTo>
                    <a:pt x="3228995" y="427806"/>
                  </a:lnTo>
                  <a:cubicBezTo>
                    <a:pt x="3228995" y="436348"/>
                    <a:pt x="3225602" y="444539"/>
                    <a:pt x="3219562" y="450579"/>
                  </a:cubicBezTo>
                  <a:cubicBezTo>
                    <a:pt x="3213522" y="456619"/>
                    <a:pt x="3205331" y="460012"/>
                    <a:pt x="3196790" y="460012"/>
                  </a:cubicBezTo>
                  <a:lnTo>
                    <a:pt x="32205" y="460012"/>
                  </a:lnTo>
                  <a:cubicBezTo>
                    <a:pt x="14419" y="460012"/>
                    <a:pt x="0" y="445593"/>
                    <a:pt x="0" y="427806"/>
                  </a:cubicBezTo>
                  <a:lnTo>
                    <a:pt x="0" y="32205"/>
                  </a:lnTo>
                  <a:cubicBezTo>
                    <a:pt x="0" y="23664"/>
                    <a:pt x="3393" y="15472"/>
                    <a:pt x="9433" y="9433"/>
                  </a:cubicBezTo>
                  <a:cubicBezTo>
                    <a:pt x="15472" y="3393"/>
                    <a:pt x="23664" y="0"/>
                    <a:pt x="322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228995" cy="49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420536" y="5513695"/>
            <a:ext cx="2440091" cy="2039909"/>
            <a:chOff x="0" y="0"/>
            <a:chExt cx="812800" cy="67949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679499"/>
            </a:xfrm>
            <a:custGeom>
              <a:avLst/>
              <a:gdLst/>
              <a:ahLst/>
              <a:cxnLst/>
              <a:rect l="l" t="t" r="r" b="b"/>
              <a:pathLst>
                <a:path w="812800" h="679499">
                  <a:moveTo>
                    <a:pt x="406400" y="0"/>
                  </a:moveTo>
                  <a:cubicBezTo>
                    <a:pt x="181951" y="0"/>
                    <a:pt x="0" y="152111"/>
                    <a:pt x="0" y="339749"/>
                  </a:cubicBezTo>
                  <a:cubicBezTo>
                    <a:pt x="0" y="527388"/>
                    <a:pt x="181951" y="679499"/>
                    <a:pt x="406400" y="679499"/>
                  </a:cubicBezTo>
                  <a:cubicBezTo>
                    <a:pt x="630849" y="679499"/>
                    <a:pt x="812800" y="527388"/>
                    <a:pt x="812800" y="339749"/>
                  </a:cubicBezTo>
                  <a:cubicBezTo>
                    <a:pt x="812800" y="15211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5603"/>
              <a:ext cx="660400" cy="590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570719" y="5641297"/>
            <a:ext cx="2139726" cy="1746607"/>
            <a:chOff x="0" y="0"/>
            <a:chExt cx="812800" cy="66346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663469"/>
            </a:xfrm>
            <a:custGeom>
              <a:avLst/>
              <a:gdLst/>
              <a:ahLst/>
              <a:cxnLst/>
              <a:rect l="l" t="t" r="r" b="b"/>
              <a:pathLst>
                <a:path w="812800" h="663469">
                  <a:moveTo>
                    <a:pt x="406400" y="0"/>
                  </a:moveTo>
                  <a:cubicBezTo>
                    <a:pt x="181951" y="0"/>
                    <a:pt x="0" y="148523"/>
                    <a:pt x="0" y="331735"/>
                  </a:cubicBezTo>
                  <a:cubicBezTo>
                    <a:pt x="0" y="514946"/>
                    <a:pt x="181951" y="663469"/>
                    <a:pt x="406400" y="663469"/>
                  </a:cubicBezTo>
                  <a:cubicBezTo>
                    <a:pt x="630849" y="663469"/>
                    <a:pt x="812800" y="514946"/>
                    <a:pt x="812800" y="331735"/>
                  </a:cubicBezTo>
                  <a:cubicBezTo>
                    <a:pt x="812800" y="14852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4AC78"/>
              </a:solidFill>
              <a:prstDash val="dash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24100"/>
              <a:ext cx="660400" cy="577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420536" y="7845103"/>
            <a:ext cx="2440091" cy="2039909"/>
            <a:chOff x="0" y="0"/>
            <a:chExt cx="812800" cy="6794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679499"/>
            </a:xfrm>
            <a:custGeom>
              <a:avLst/>
              <a:gdLst/>
              <a:ahLst/>
              <a:cxnLst/>
              <a:rect l="l" t="t" r="r" b="b"/>
              <a:pathLst>
                <a:path w="812800" h="679499">
                  <a:moveTo>
                    <a:pt x="406400" y="0"/>
                  </a:moveTo>
                  <a:cubicBezTo>
                    <a:pt x="181951" y="0"/>
                    <a:pt x="0" y="152111"/>
                    <a:pt x="0" y="339749"/>
                  </a:cubicBezTo>
                  <a:cubicBezTo>
                    <a:pt x="0" y="527388"/>
                    <a:pt x="181951" y="679499"/>
                    <a:pt x="406400" y="679499"/>
                  </a:cubicBezTo>
                  <a:cubicBezTo>
                    <a:pt x="630849" y="679499"/>
                    <a:pt x="812800" y="527388"/>
                    <a:pt x="812800" y="339749"/>
                  </a:cubicBezTo>
                  <a:cubicBezTo>
                    <a:pt x="812800" y="15211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25603"/>
              <a:ext cx="660400" cy="590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570719" y="7991754"/>
            <a:ext cx="2139726" cy="1746607"/>
            <a:chOff x="0" y="0"/>
            <a:chExt cx="812800" cy="66346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663469"/>
            </a:xfrm>
            <a:custGeom>
              <a:avLst/>
              <a:gdLst/>
              <a:ahLst/>
              <a:cxnLst/>
              <a:rect l="l" t="t" r="r" b="b"/>
              <a:pathLst>
                <a:path w="812800" h="663469">
                  <a:moveTo>
                    <a:pt x="406400" y="0"/>
                  </a:moveTo>
                  <a:cubicBezTo>
                    <a:pt x="181951" y="0"/>
                    <a:pt x="0" y="148523"/>
                    <a:pt x="0" y="331735"/>
                  </a:cubicBezTo>
                  <a:cubicBezTo>
                    <a:pt x="0" y="514946"/>
                    <a:pt x="181951" y="663469"/>
                    <a:pt x="406400" y="663469"/>
                  </a:cubicBezTo>
                  <a:cubicBezTo>
                    <a:pt x="630849" y="663469"/>
                    <a:pt x="812800" y="514946"/>
                    <a:pt x="812800" y="331735"/>
                  </a:cubicBezTo>
                  <a:cubicBezTo>
                    <a:pt x="812800" y="14852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4AC78"/>
              </a:solidFill>
              <a:prstDash val="dash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24100"/>
              <a:ext cx="660400" cy="577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>
            <a:off x="2114478" y="148059"/>
            <a:ext cx="1785898" cy="2242566"/>
          </a:xfrm>
          <a:custGeom>
            <a:avLst/>
            <a:gdLst/>
            <a:ahLst/>
            <a:cxnLst/>
            <a:rect l="l" t="t" r="r" b="b"/>
            <a:pathLst>
              <a:path w="1785898" h="2242566">
                <a:moveTo>
                  <a:pt x="0" y="0"/>
                </a:moveTo>
                <a:lnTo>
                  <a:pt x="1785898" y="0"/>
                </a:lnTo>
                <a:lnTo>
                  <a:pt x="1785898" y="2242566"/>
                </a:lnTo>
                <a:lnTo>
                  <a:pt x="0" y="22425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3153294" y="949604"/>
            <a:ext cx="11644307" cy="13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7"/>
              </a:lnSpc>
            </a:pPr>
            <a:r>
              <a:rPr lang="en-US" sz="10974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PHƯƠNG PHÁP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55027" y="2381100"/>
            <a:ext cx="1270743" cy="281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37"/>
              </a:lnSpc>
            </a:pPr>
            <a:r>
              <a:rPr lang="en-US" sz="16169">
                <a:solidFill>
                  <a:srgbClr val="6B452F"/>
                </a:solidFill>
                <a:latin typeface="Stella"/>
                <a:ea typeface="Stella"/>
                <a:cs typeface="Stella"/>
                <a:sym typeface="Stella"/>
              </a:rPr>
              <a:t>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87516" y="3432533"/>
            <a:ext cx="10605002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6B45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Nghiên cứu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005210" y="7191654"/>
            <a:ext cx="1270743" cy="281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37"/>
              </a:lnSpc>
            </a:pPr>
            <a:r>
              <a:rPr lang="en-US" sz="16169">
                <a:solidFill>
                  <a:srgbClr val="6B452F"/>
                </a:solidFill>
                <a:latin typeface="Stella"/>
                <a:ea typeface="Stella"/>
                <a:cs typeface="Stella"/>
                <a:sym typeface="Stella"/>
              </a:rPr>
              <a:t>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007427" y="4828024"/>
            <a:ext cx="1270743" cy="281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37"/>
              </a:lnSpc>
            </a:pPr>
            <a:r>
              <a:rPr lang="en-US" sz="16169">
                <a:solidFill>
                  <a:srgbClr val="6B452F"/>
                </a:solidFill>
                <a:latin typeface="Stella"/>
                <a:ea typeface="Stella"/>
                <a:cs typeface="Stella"/>
                <a:sym typeface="Stella"/>
              </a:rPr>
              <a:t>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087516" y="5984375"/>
            <a:ext cx="10605002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6B45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Lập trình, cải tiến trò chơi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83290" y="8357659"/>
            <a:ext cx="10605002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6B45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Kiểm thử và hoàn thiện</a:t>
            </a:r>
          </a:p>
        </p:txBody>
      </p:sp>
      <p:sp>
        <p:nvSpPr>
          <p:cNvPr id="52" name="Slide Number Placeholder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1"/>
          </p:nvPr>
        </p:nvSpPr>
        <p:spPr>
          <a:xfrm>
            <a:off x="7961727" y="9926234"/>
            <a:ext cx="2895600" cy="365125"/>
          </a:xfrm>
        </p:spPr>
        <p:txBody>
          <a:bodyPr/>
          <a:lstStyle/>
          <a:p>
            <a:r>
              <a:rPr lang="vi-VN" sz="2400" dirty="0" smtClean="0"/>
              <a:t>04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22734" y="7562864"/>
            <a:ext cx="12299930" cy="1980821"/>
            <a:chOff x="0" y="0"/>
            <a:chExt cx="3239488" cy="5216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39488" cy="521698"/>
            </a:xfrm>
            <a:custGeom>
              <a:avLst/>
              <a:gdLst/>
              <a:ahLst/>
              <a:cxnLst/>
              <a:rect l="l" t="t" r="r" b="b"/>
              <a:pathLst>
                <a:path w="3239488" h="521698">
                  <a:moveTo>
                    <a:pt x="32101" y="0"/>
                  </a:moveTo>
                  <a:lnTo>
                    <a:pt x="3207387" y="0"/>
                  </a:lnTo>
                  <a:cubicBezTo>
                    <a:pt x="3225116" y="0"/>
                    <a:pt x="3239488" y="14372"/>
                    <a:pt x="3239488" y="32101"/>
                  </a:cubicBezTo>
                  <a:lnTo>
                    <a:pt x="3239488" y="489597"/>
                  </a:lnTo>
                  <a:cubicBezTo>
                    <a:pt x="3239488" y="507326"/>
                    <a:pt x="3225116" y="521698"/>
                    <a:pt x="3207387" y="521698"/>
                  </a:cubicBezTo>
                  <a:lnTo>
                    <a:pt x="32101" y="521698"/>
                  </a:lnTo>
                  <a:cubicBezTo>
                    <a:pt x="14372" y="521698"/>
                    <a:pt x="0" y="507326"/>
                    <a:pt x="0" y="489597"/>
                  </a:cubicBezTo>
                  <a:lnTo>
                    <a:pt x="0" y="32101"/>
                  </a:lnTo>
                  <a:cubicBezTo>
                    <a:pt x="0" y="14372"/>
                    <a:pt x="14372" y="0"/>
                    <a:pt x="321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39488" cy="55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93605" y="8117762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0" y="0"/>
                </a:moveTo>
                <a:lnTo>
                  <a:pt x="4923398" y="0"/>
                </a:lnTo>
                <a:lnTo>
                  <a:pt x="4923398" y="3544846"/>
                </a:lnTo>
                <a:lnTo>
                  <a:pt x="0" y="354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005226" y="-743723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38259" y="8442759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14697" y="1352550"/>
            <a:ext cx="12916003" cy="119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9999" b="1">
                <a:solidFill>
                  <a:srgbClr val="593A1E"/>
                </a:solidFill>
                <a:latin typeface="Ruda Bold"/>
                <a:ea typeface="Ruda Bold"/>
                <a:cs typeface="Ruda Bold"/>
                <a:sym typeface="Ruda Bold"/>
              </a:rPr>
              <a:t>ĐẶC ĐIỂM NỔI BẬT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672712" y="2801123"/>
            <a:ext cx="12299930" cy="1980821"/>
            <a:chOff x="0" y="0"/>
            <a:chExt cx="3239488" cy="5216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39488" cy="521698"/>
            </a:xfrm>
            <a:custGeom>
              <a:avLst/>
              <a:gdLst/>
              <a:ahLst/>
              <a:cxnLst/>
              <a:rect l="l" t="t" r="r" b="b"/>
              <a:pathLst>
                <a:path w="3239488" h="521698">
                  <a:moveTo>
                    <a:pt x="32101" y="0"/>
                  </a:moveTo>
                  <a:lnTo>
                    <a:pt x="3207387" y="0"/>
                  </a:lnTo>
                  <a:cubicBezTo>
                    <a:pt x="3225116" y="0"/>
                    <a:pt x="3239488" y="14372"/>
                    <a:pt x="3239488" y="32101"/>
                  </a:cubicBezTo>
                  <a:lnTo>
                    <a:pt x="3239488" y="489597"/>
                  </a:lnTo>
                  <a:cubicBezTo>
                    <a:pt x="3239488" y="507326"/>
                    <a:pt x="3225116" y="521698"/>
                    <a:pt x="3207387" y="521698"/>
                  </a:cubicBezTo>
                  <a:lnTo>
                    <a:pt x="32101" y="521698"/>
                  </a:lnTo>
                  <a:cubicBezTo>
                    <a:pt x="14372" y="521698"/>
                    <a:pt x="0" y="507326"/>
                    <a:pt x="0" y="489597"/>
                  </a:cubicBezTo>
                  <a:lnTo>
                    <a:pt x="0" y="32101"/>
                  </a:lnTo>
                  <a:cubicBezTo>
                    <a:pt x="0" y="14372"/>
                    <a:pt x="14372" y="0"/>
                    <a:pt x="321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239488" cy="55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33708" y="2996554"/>
            <a:ext cx="11942848" cy="1589960"/>
            <a:chOff x="0" y="0"/>
            <a:chExt cx="3145442" cy="4187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45442" cy="418755"/>
            </a:xfrm>
            <a:custGeom>
              <a:avLst/>
              <a:gdLst/>
              <a:ahLst/>
              <a:cxnLst/>
              <a:rect l="l" t="t" r="r" b="b"/>
              <a:pathLst>
                <a:path w="3145442" h="418755">
                  <a:moveTo>
                    <a:pt x="33061" y="0"/>
                  </a:moveTo>
                  <a:lnTo>
                    <a:pt x="3112381" y="0"/>
                  </a:lnTo>
                  <a:cubicBezTo>
                    <a:pt x="3121149" y="0"/>
                    <a:pt x="3129558" y="3483"/>
                    <a:pt x="3135758" y="9683"/>
                  </a:cubicBezTo>
                  <a:cubicBezTo>
                    <a:pt x="3141958" y="15883"/>
                    <a:pt x="3145442" y="24292"/>
                    <a:pt x="3145442" y="33061"/>
                  </a:cubicBezTo>
                  <a:lnTo>
                    <a:pt x="3145442" y="385694"/>
                  </a:lnTo>
                  <a:cubicBezTo>
                    <a:pt x="3145442" y="403953"/>
                    <a:pt x="3130640" y="418755"/>
                    <a:pt x="3112381" y="418755"/>
                  </a:cubicBezTo>
                  <a:lnTo>
                    <a:pt x="33061" y="418755"/>
                  </a:lnTo>
                  <a:cubicBezTo>
                    <a:pt x="14802" y="418755"/>
                    <a:pt x="0" y="403953"/>
                    <a:pt x="0" y="385694"/>
                  </a:cubicBezTo>
                  <a:lnTo>
                    <a:pt x="0" y="33061"/>
                  </a:lnTo>
                  <a:cubicBezTo>
                    <a:pt x="0" y="14802"/>
                    <a:pt x="14802" y="0"/>
                    <a:pt x="3306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145442" cy="456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29793" y="3135389"/>
            <a:ext cx="11401426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Kim cương xuất hiện trong vòng 10s đếm ngược sau đó biến mất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901274" y="7748770"/>
            <a:ext cx="11942848" cy="1589960"/>
            <a:chOff x="0" y="0"/>
            <a:chExt cx="3145442" cy="4187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45442" cy="418755"/>
            </a:xfrm>
            <a:custGeom>
              <a:avLst/>
              <a:gdLst/>
              <a:ahLst/>
              <a:cxnLst/>
              <a:rect l="l" t="t" r="r" b="b"/>
              <a:pathLst>
                <a:path w="3145442" h="418755">
                  <a:moveTo>
                    <a:pt x="33061" y="0"/>
                  </a:moveTo>
                  <a:lnTo>
                    <a:pt x="3112381" y="0"/>
                  </a:lnTo>
                  <a:cubicBezTo>
                    <a:pt x="3121149" y="0"/>
                    <a:pt x="3129558" y="3483"/>
                    <a:pt x="3135758" y="9683"/>
                  </a:cubicBezTo>
                  <a:cubicBezTo>
                    <a:pt x="3141958" y="15883"/>
                    <a:pt x="3145442" y="24292"/>
                    <a:pt x="3145442" y="33061"/>
                  </a:cubicBezTo>
                  <a:lnTo>
                    <a:pt x="3145442" y="385694"/>
                  </a:lnTo>
                  <a:cubicBezTo>
                    <a:pt x="3145442" y="403953"/>
                    <a:pt x="3130640" y="418755"/>
                    <a:pt x="3112381" y="418755"/>
                  </a:cubicBezTo>
                  <a:lnTo>
                    <a:pt x="33061" y="418755"/>
                  </a:lnTo>
                  <a:cubicBezTo>
                    <a:pt x="14802" y="418755"/>
                    <a:pt x="0" y="403953"/>
                    <a:pt x="0" y="385694"/>
                  </a:cubicBezTo>
                  <a:lnTo>
                    <a:pt x="0" y="33061"/>
                  </a:lnTo>
                  <a:cubicBezTo>
                    <a:pt x="0" y="14802"/>
                    <a:pt x="14802" y="0"/>
                    <a:pt x="3306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45442" cy="456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722734" y="7900632"/>
            <a:ext cx="11758508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Hiện bảng xếp hạng cho biết 10 lần có số điểm chơi cao nhất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722734" y="5272649"/>
            <a:ext cx="12299930" cy="1980821"/>
            <a:chOff x="0" y="0"/>
            <a:chExt cx="3239488" cy="5216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39488" cy="521698"/>
            </a:xfrm>
            <a:custGeom>
              <a:avLst/>
              <a:gdLst/>
              <a:ahLst/>
              <a:cxnLst/>
              <a:rect l="l" t="t" r="r" b="b"/>
              <a:pathLst>
                <a:path w="3239488" h="521698">
                  <a:moveTo>
                    <a:pt x="32101" y="0"/>
                  </a:moveTo>
                  <a:lnTo>
                    <a:pt x="3207387" y="0"/>
                  </a:lnTo>
                  <a:cubicBezTo>
                    <a:pt x="3225116" y="0"/>
                    <a:pt x="3239488" y="14372"/>
                    <a:pt x="3239488" y="32101"/>
                  </a:cubicBezTo>
                  <a:lnTo>
                    <a:pt x="3239488" y="489597"/>
                  </a:lnTo>
                  <a:cubicBezTo>
                    <a:pt x="3239488" y="507326"/>
                    <a:pt x="3225116" y="521698"/>
                    <a:pt x="3207387" y="521698"/>
                  </a:cubicBezTo>
                  <a:lnTo>
                    <a:pt x="32101" y="521698"/>
                  </a:lnTo>
                  <a:cubicBezTo>
                    <a:pt x="14372" y="521698"/>
                    <a:pt x="0" y="507326"/>
                    <a:pt x="0" y="489597"/>
                  </a:cubicBezTo>
                  <a:lnTo>
                    <a:pt x="0" y="32101"/>
                  </a:lnTo>
                  <a:cubicBezTo>
                    <a:pt x="0" y="14372"/>
                    <a:pt x="14372" y="0"/>
                    <a:pt x="321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239488" cy="55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01274" y="5468079"/>
            <a:ext cx="11942848" cy="1589960"/>
            <a:chOff x="0" y="0"/>
            <a:chExt cx="3145442" cy="41875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45442" cy="418755"/>
            </a:xfrm>
            <a:custGeom>
              <a:avLst/>
              <a:gdLst/>
              <a:ahLst/>
              <a:cxnLst/>
              <a:rect l="l" t="t" r="r" b="b"/>
              <a:pathLst>
                <a:path w="3145442" h="418755">
                  <a:moveTo>
                    <a:pt x="33061" y="0"/>
                  </a:moveTo>
                  <a:lnTo>
                    <a:pt x="3112381" y="0"/>
                  </a:lnTo>
                  <a:cubicBezTo>
                    <a:pt x="3121149" y="0"/>
                    <a:pt x="3129558" y="3483"/>
                    <a:pt x="3135758" y="9683"/>
                  </a:cubicBezTo>
                  <a:cubicBezTo>
                    <a:pt x="3141958" y="15883"/>
                    <a:pt x="3145442" y="24292"/>
                    <a:pt x="3145442" y="33061"/>
                  </a:cubicBezTo>
                  <a:lnTo>
                    <a:pt x="3145442" y="385694"/>
                  </a:lnTo>
                  <a:cubicBezTo>
                    <a:pt x="3145442" y="403953"/>
                    <a:pt x="3130640" y="418755"/>
                    <a:pt x="3112381" y="418755"/>
                  </a:cubicBezTo>
                  <a:lnTo>
                    <a:pt x="33061" y="418755"/>
                  </a:lnTo>
                  <a:cubicBezTo>
                    <a:pt x="14802" y="418755"/>
                    <a:pt x="0" y="403953"/>
                    <a:pt x="0" y="385694"/>
                  </a:cubicBezTo>
                  <a:lnTo>
                    <a:pt x="0" y="33061"/>
                  </a:lnTo>
                  <a:cubicBezTo>
                    <a:pt x="0" y="14802"/>
                    <a:pt x="14802" y="0"/>
                    <a:pt x="3306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145442" cy="456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097360" y="5623758"/>
            <a:ext cx="11550678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Âm thanh phát ra sau khi người chơi chiến thắng hoặc thua cuộc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>
          <a:xfrm>
            <a:off x="7643812" y="9881453"/>
            <a:ext cx="2895600" cy="365125"/>
          </a:xfrm>
        </p:spPr>
        <p:txBody>
          <a:bodyPr/>
          <a:lstStyle/>
          <a:p>
            <a:r>
              <a:rPr lang="vi-VN" sz="2400" dirty="0" smtClean="0"/>
              <a:t>05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32999" y="7693559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97601" y="-743723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38259" y="8442759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63314" y="6026859"/>
            <a:ext cx="8103611" cy="4121692"/>
          </a:xfrm>
          <a:custGeom>
            <a:avLst/>
            <a:gdLst/>
            <a:ahLst/>
            <a:cxnLst/>
            <a:rect l="l" t="t" r="r" b="b"/>
            <a:pathLst>
              <a:path w="8103611" h="4121692">
                <a:moveTo>
                  <a:pt x="0" y="0"/>
                </a:moveTo>
                <a:lnTo>
                  <a:pt x="8103611" y="0"/>
                </a:lnTo>
                <a:lnTo>
                  <a:pt x="8103611" y="4121691"/>
                </a:lnTo>
                <a:lnTo>
                  <a:pt x="0" y="41216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47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8683" y="6006585"/>
            <a:ext cx="7981208" cy="4092276"/>
          </a:xfrm>
          <a:custGeom>
            <a:avLst/>
            <a:gdLst/>
            <a:ahLst/>
            <a:cxnLst/>
            <a:rect l="l" t="t" r="r" b="b"/>
            <a:pathLst>
              <a:path w="7981208" h="4092276">
                <a:moveTo>
                  <a:pt x="0" y="0"/>
                </a:moveTo>
                <a:lnTo>
                  <a:pt x="7981208" y="0"/>
                </a:lnTo>
                <a:lnTo>
                  <a:pt x="7981208" y="4092276"/>
                </a:lnTo>
                <a:lnTo>
                  <a:pt x="0" y="40922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2547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63314" y="1774292"/>
            <a:ext cx="8103611" cy="4132841"/>
          </a:xfrm>
          <a:custGeom>
            <a:avLst/>
            <a:gdLst/>
            <a:ahLst/>
            <a:cxnLst/>
            <a:rect l="l" t="t" r="r" b="b"/>
            <a:pathLst>
              <a:path w="8103611" h="4132841">
                <a:moveTo>
                  <a:pt x="0" y="0"/>
                </a:moveTo>
                <a:lnTo>
                  <a:pt x="8103611" y="0"/>
                </a:lnTo>
                <a:lnTo>
                  <a:pt x="8103611" y="4132842"/>
                </a:lnTo>
                <a:lnTo>
                  <a:pt x="0" y="4132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53294" y="517740"/>
            <a:ext cx="11644307" cy="1175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1"/>
              </a:lnSpc>
            </a:pPr>
            <a:r>
              <a:rPr lang="en-US" sz="9874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KẾT QUẢ</a:t>
            </a:r>
          </a:p>
        </p:txBody>
      </p:sp>
      <p:sp>
        <p:nvSpPr>
          <p:cNvPr id="12" name="Freeform 12"/>
          <p:cNvSpPr/>
          <p:nvPr/>
        </p:nvSpPr>
        <p:spPr>
          <a:xfrm>
            <a:off x="458683" y="1774292"/>
            <a:ext cx="7981208" cy="4110322"/>
          </a:xfrm>
          <a:custGeom>
            <a:avLst/>
            <a:gdLst/>
            <a:ahLst/>
            <a:cxnLst/>
            <a:rect l="l" t="t" r="r" b="b"/>
            <a:pathLst>
              <a:path w="7981208" h="4110322">
                <a:moveTo>
                  <a:pt x="0" y="0"/>
                </a:moveTo>
                <a:lnTo>
                  <a:pt x="7981208" y="0"/>
                </a:lnTo>
                <a:lnTo>
                  <a:pt x="7981208" y="4110323"/>
                </a:lnTo>
                <a:lnTo>
                  <a:pt x="0" y="4110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7435973" y="9853462"/>
            <a:ext cx="2895600" cy="365125"/>
          </a:xfrm>
        </p:spPr>
        <p:txBody>
          <a:bodyPr/>
          <a:lstStyle/>
          <a:p>
            <a:r>
              <a:rPr lang="vi-VN" sz="2400" dirty="0" smtClean="0"/>
              <a:t>06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99691" y="8192438"/>
            <a:ext cx="4504122" cy="3242968"/>
          </a:xfrm>
          <a:custGeom>
            <a:avLst/>
            <a:gdLst/>
            <a:ahLst/>
            <a:cxnLst/>
            <a:rect l="l" t="t" r="r" b="b"/>
            <a:pathLst>
              <a:path w="4504122" h="3242968">
                <a:moveTo>
                  <a:pt x="0" y="0"/>
                </a:moveTo>
                <a:lnTo>
                  <a:pt x="4504122" y="0"/>
                </a:lnTo>
                <a:lnTo>
                  <a:pt x="4504122" y="3242968"/>
                </a:lnTo>
                <a:lnTo>
                  <a:pt x="0" y="3242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230742" y="-1138835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4923398" y="3544847"/>
                </a:moveTo>
                <a:lnTo>
                  <a:pt x="0" y="3544847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38259" y="8442759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86445" y="517740"/>
            <a:ext cx="11644307" cy="119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9999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HẠN CHẾ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80188" y="2534624"/>
            <a:ext cx="13650551" cy="1761055"/>
            <a:chOff x="0" y="0"/>
            <a:chExt cx="3595207" cy="4638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95207" cy="463817"/>
            </a:xfrm>
            <a:custGeom>
              <a:avLst/>
              <a:gdLst/>
              <a:ahLst/>
              <a:cxnLst/>
              <a:rect l="l" t="t" r="r" b="b"/>
              <a:pathLst>
                <a:path w="3595207" h="463817">
                  <a:moveTo>
                    <a:pt x="28925" y="0"/>
                  </a:moveTo>
                  <a:lnTo>
                    <a:pt x="3566282" y="0"/>
                  </a:lnTo>
                  <a:cubicBezTo>
                    <a:pt x="3582257" y="0"/>
                    <a:pt x="3595207" y="12950"/>
                    <a:pt x="3595207" y="28925"/>
                  </a:cubicBezTo>
                  <a:lnTo>
                    <a:pt x="3595207" y="434892"/>
                  </a:lnTo>
                  <a:cubicBezTo>
                    <a:pt x="3595207" y="442564"/>
                    <a:pt x="3592159" y="449921"/>
                    <a:pt x="3586735" y="455345"/>
                  </a:cubicBezTo>
                  <a:cubicBezTo>
                    <a:pt x="3581310" y="460770"/>
                    <a:pt x="3573954" y="463817"/>
                    <a:pt x="3566282" y="463817"/>
                  </a:cubicBezTo>
                  <a:lnTo>
                    <a:pt x="28925" y="463817"/>
                  </a:lnTo>
                  <a:cubicBezTo>
                    <a:pt x="21253" y="463817"/>
                    <a:pt x="13896" y="460770"/>
                    <a:pt x="8472" y="455345"/>
                  </a:cubicBezTo>
                  <a:cubicBezTo>
                    <a:pt x="3047" y="449921"/>
                    <a:pt x="0" y="442564"/>
                    <a:pt x="0" y="434892"/>
                  </a:cubicBezTo>
                  <a:lnTo>
                    <a:pt x="0" y="28925"/>
                  </a:lnTo>
                  <a:cubicBezTo>
                    <a:pt x="0" y="21253"/>
                    <a:pt x="3047" y="13896"/>
                    <a:pt x="8472" y="8472"/>
                  </a:cubicBezTo>
                  <a:cubicBezTo>
                    <a:pt x="13896" y="3047"/>
                    <a:pt x="21253" y="0"/>
                    <a:pt x="2892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595207" cy="501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38159" y="2771527"/>
            <a:ext cx="13492580" cy="325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Cần cải thiện giao diện với hình ảnh, biểu tượng và hiệu ứng sinh động để tăng hứng thú cho người chơi</a:t>
            </a:r>
          </a:p>
          <a:p>
            <a:pPr algn="ctr">
              <a:lnSpc>
                <a:spcPts val="5180"/>
              </a:lnSpc>
            </a:pPr>
            <a:endParaRPr lang="en-US" sz="3700">
              <a:solidFill>
                <a:srgbClr val="593A1E"/>
              </a:solidFill>
              <a:latin typeface="Ruda"/>
              <a:ea typeface="Ruda"/>
              <a:cs typeface="Ruda"/>
              <a:sym typeface="Ruda"/>
            </a:endParaRPr>
          </a:p>
          <a:p>
            <a:pPr algn="ctr">
              <a:lnSpc>
                <a:spcPts val="5180"/>
              </a:lnSpc>
            </a:pPr>
            <a:endParaRPr lang="en-US" sz="3700">
              <a:solidFill>
                <a:srgbClr val="593A1E"/>
              </a:solidFill>
              <a:latin typeface="Ruda"/>
              <a:ea typeface="Ruda"/>
              <a:cs typeface="Ruda"/>
              <a:sym typeface="Ruda"/>
            </a:endParaRPr>
          </a:p>
          <a:p>
            <a:pPr algn="ctr">
              <a:lnSpc>
                <a:spcPts val="5180"/>
              </a:lnSpc>
            </a:pPr>
            <a:endParaRPr lang="en-US" sz="3700">
              <a:solidFill>
                <a:srgbClr val="593A1E"/>
              </a:solidFill>
              <a:latin typeface="Ruda"/>
              <a:ea typeface="Ruda"/>
              <a:cs typeface="Ruda"/>
              <a:sym typeface="Ruda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2285014" y="4936932"/>
            <a:ext cx="13440899" cy="1917180"/>
            <a:chOff x="0" y="0"/>
            <a:chExt cx="3539990" cy="5049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39990" cy="504936"/>
            </a:xfrm>
            <a:custGeom>
              <a:avLst/>
              <a:gdLst/>
              <a:ahLst/>
              <a:cxnLst/>
              <a:rect l="l" t="t" r="r" b="b"/>
              <a:pathLst>
                <a:path w="3539990" h="504936">
                  <a:moveTo>
                    <a:pt x="29376" y="0"/>
                  </a:moveTo>
                  <a:lnTo>
                    <a:pt x="3510614" y="0"/>
                  </a:lnTo>
                  <a:cubicBezTo>
                    <a:pt x="3526838" y="0"/>
                    <a:pt x="3539990" y="13152"/>
                    <a:pt x="3539990" y="29376"/>
                  </a:cubicBezTo>
                  <a:lnTo>
                    <a:pt x="3539990" y="475560"/>
                  </a:lnTo>
                  <a:cubicBezTo>
                    <a:pt x="3539990" y="491784"/>
                    <a:pt x="3526838" y="504936"/>
                    <a:pt x="3510614" y="504936"/>
                  </a:cubicBezTo>
                  <a:lnTo>
                    <a:pt x="29376" y="504936"/>
                  </a:lnTo>
                  <a:cubicBezTo>
                    <a:pt x="21585" y="504936"/>
                    <a:pt x="14113" y="501841"/>
                    <a:pt x="8604" y="496332"/>
                  </a:cubicBezTo>
                  <a:cubicBezTo>
                    <a:pt x="3095" y="490823"/>
                    <a:pt x="0" y="483351"/>
                    <a:pt x="0" y="475560"/>
                  </a:cubicBezTo>
                  <a:lnTo>
                    <a:pt x="0" y="29376"/>
                  </a:lnTo>
                  <a:cubicBezTo>
                    <a:pt x="0" y="13152"/>
                    <a:pt x="13152" y="0"/>
                    <a:pt x="2937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539990" cy="543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579478" y="5295804"/>
            <a:ext cx="12833924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Trò chơi hiện tại chỉ có một cấp độ duy nhất, làm hạn chế tính đa dạng và khả năng khám phá của người chơi</a:t>
            </a:r>
          </a:p>
          <a:p>
            <a:pPr algn="ctr">
              <a:lnSpc>
                <a:spcPts val="5180"/>
              </a:lnSpc>
            </a:pPr>
            <a:endParaRPr lang="en-US" sz="3700">
              <a:solidFill>
                <a:srgbClr val="593A1E"/>
              </a:solidFill>
              <a:latin typeface="Ruda"/>
              <a:ea typeface="Ruda"/>
              <a:cs typeface="Ruda"/>
              <a:sym typeface="Ruda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2389840" y="7668799"/>
            <a:ext cx="13336074" cy="1754851"/>
            <a:chOff x="0" y="0"/>
            <a:chExt cx="3512382" cy="4621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12381" cy="462183"/>
            </a:xfrm>
            <a:custGeom>
              <a:avLst/>
              <a:gdLst/>
              <a:ahLst/>
              <a:cxnLst/>
              <a:rect l="l" t="t" r="r" b="b"/>
              <a:pathLst>
                <a:path w="3512381" h="462183">
                  <a:moveTo>
                    <a:pt x="29607" y="0"/>
                  </a:moveTo>
                  <a:lnTo>
                    <a:pt x="3482775" y="0"/>
                  </a:lnTo>
                  <a:cubicBezTo>
                    <a:pt x="3490627" y="0"/>
                    <a:pt x="3498157" y="3119"/>
                    <a:pt x="3503710" y="8672"/>
                  </a:cubicBezTo>
                  <a:cubicBezTo>
                    <a:pt x="3509262" y="14224"/>
                    <a:pt x="3512381" y="21755"/>
                    <a:pt x="3512381" y="29607"/>
                  </a:cubicBezTo>
                  <a:lnTo>
                    <a:pt x="3512381" y="432576"/>
                  </a:lnTo>
                  <a:cubicBezTo>
                    <a:pt x="3512381" y="448928"/>
                    <a:pt x="3499126" y="462183"/>
                    <a:pt x="3482775" y="462183"/>
                  </a:cubicBezTo>
                  <a:lnTo>
                    <a:pt x="29607" y="462183"/>
                  </a:lnTo>
                  <a:cubicBezTo>
                    <a:pt x="13255" y="462183"/>
                    <a:pt x="0" y="448928"/>
                    <a:pt x="0" y="432576"/>
                  </a:cubicBezTo>
                  <a:lnTo>
                    <a:pt x="0" y="29607"/>
                  </a:lnTo>
                  <a:cubicBezTo>
                    <a:pt x="0" y="13255"/>
                    <a:pt x="13255" y="0"/>
                    <a:pt x="296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512382" cy="50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572500" y="7869315"/>
            <a:ext cx="12840903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Trò chơi chỉ sử dụng chướng ngại vật là đá, điều này làm cho game trở nên đơn điệu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636649" y="9877077"/>
            <a:ext cx="2895600" cy="365125"/>
          </a:xfrm>
        </p:spPr>
        <p:txBody>
          <a:bodyPr/>
          <a:lstStyle/>
          <a:p>
            <a:r>
              <a:rPr lang="vi-VN" sz="2400" dirty="0" smtClean="0"/>
              <a:t>07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09712" y="8475599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0" y="0"/>
                </a:lnTo>
                <a:lnTo>
                  <a:pt x="4057330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4013" y="8189849"/>
            <a:ext cx="14559974" cy="1589960"/>
            <a:chOff x="0" y="0"/>
            <a:chExt cx="3834726" cy="4187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34726" cy="418755"/>
            </a:xfrm>
            <a:custGeom>
              <a:avLst/>
              <a:gdLst/>
              <a:ahLst/>
              <a:cxnLst/>
              <a:rect l="l" t="t" r="r" b="b"/>
              <a:pathLst>
                <a:path w="3834726" h="418755">
                  <a:moveTo>
                    <a:pt x="27118" y="0"/>
                  </a:moveTo>
                  <a:lnTo>
                    <a:pt x="3807608" y="0"/>
                  </a:lnTo>
                  <a:cubicBezTo>
                    <a:pt x="3822585" y="0"/>
                    <a:pt x="3834726" y="12141"/>
                    <a:pt x="3834726" y="27118"/>
                  </a:cubicBezTo>
                  <a:lnTo>
                    <a:pt x="3834726" y="391637"/>
                  </a:lnTo>
                  <a:cubicBezTo>
                    <a:pt x="3834726" y="406614"/>
                    <a:pt x="3822585" y="418755"/>
                    <a:pt x="3807608" y="418755"/>
                  </a:cubicBezTo>
                  <a:lnTo>
                    <a:pt x="27118" y="418755"/>
                  </a:lnTo>
                  <a:cubicBezTo>
                    <a:pt x="19926" y="418755"/>
                    <a:pt x="13028" y="415898"/>
                    <a:pt x="7943" y="410812"/>
                  </a:cubicBezTo>
                  <a:cubicBezTo>
                    <a:pt x="2857" y="405727"/>
                    <a:pt x="0" y="398829"/>
                    <a:pt x="0" y="391637"/>
                  </a:cubicBezTo>
                  <a:lnTo>
                    <a:pt x="0" y="27118"/>
                  </a:lnTo>
                  <a:cubicBezTo>
                    <a:pt x="0" y="12141"/>
                    <a:pt x="12141" y="0"/>
                    <a:pt x="271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34726" cy="456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508701" y="8180324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0" y="0"/>
                </a:moveTo>
                <a:lnTo>
                  <a:pt x="4923398" y="0"/>
                </a:lnTo>
                <a:lnTo>
                  <a:pt x="4923398" y="3544846"/>
                </a:lnTo>
                <a:lnTo>
                  <a:pt x="0" y="3544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166807" y="-627384"/>
            <a:ext cx="4600235" cy="3312169"/>
          </a:xfrm>
          <a:custGeom>
            <a:avLst/>
            <a:gdLst/>
            <a:ahLst/>
            <a:cxnLst/>
            <a:rect l="l" t="t" r="r" b="b"/>
            <a:pathLst>
              <a:path w="4600235" h="3312169">
                <a:moveTo>
                  <a:pt x="4600235" y="3312168"/>
                </a:moveTo>
                <a:lnTo>
                  <a:pt x="0" y="3312168"/>
                </a:lnTo>
                <a:lnTo>
                  <a:pt x="0" y="0"/>
                </a:lnTo>
                <a:lnTo>
                  <a:pt x="4600235" y="0"/>
                </a:lnTo>
                <a:lnTo>
                  <a:pt x="4600235" y="33121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864013" y="2006143"/>
            <a:ext cx="14559974" cy="1589960"/>
            <a:chOff x="0" y="0"/>
            <a:chExt cx="3834726" cy="4187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34726" cy="418755"/>
            </a:xfrm>
            <a:custGeom>
              <a:avLst/>
              <a:gdLst/>
              <a:ahLst/>
              <a:cxnLst/>
              <a:rect l="l" t="t" r="r" b="b"/>
              <a:pathLst>
                <a:path w="3834726" h="418755">
                  <a:moveTo>
                    <a:pt x="27118" y="0"/>
                  </a:moveTo>
                  <a:lnTo>
                    <a:pt x="3807608" y="0"/>
                  </a:lnTo>
                  <a:cubicBezTo>
                    <a:pt x="3822585" y="0"/>
                    <a:pt x="3834726" y="12141"/>
                    <a:pt x="3834726" y="27118"/>
                  </a:cubicBezTo>
                  <a:lnTo>
                    <a:pt x="3834726" y="391637"/>
                  </a:lnTo>
                  <a:cubicBezTo>
                    <a:pt x="3834726" y="406614"/>
                    <a:pt x="3822585" y="418755"/>
                    <a:pt x="3807608" y="418755"/>
                  </a:cubicBezTo>
                  <a:lnTo>
                    <a:pt x="27118" y="418755"/>
                  </a:lnTo>
                  <a:cubicBezTo>
                    <a:pt x="19926" y="418755"/>
                    <a:pt x="13028" y="415898"/>
                    <a:pt x="7943" y="410812"/>
                  </a:cubicBezTo>
                  <a:cubicBezTo>
                    <a:pt x="2857" y="405727"/>
                    <a:pt x="0" y="398829"/>
                    <a:pt x="0" y="391637"/>
                  </a:cubicBezTo>
                  <a:lnTo>
                    <a:pt x="0" y="27118"/>
                  </a:lnTo>
                  <a:cubicBezTo>
                    <a:pt x="0" y="12141"/>
                    <a:pt x="12141" y="0"/>
                    <a:pt x="271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834726" cy="456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14697" y="592646"/>
            <a:ext cx="12976630" cy="1186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3"/>
              </a:lnSpc>
            </a:pPr>
            <a:r>
              <a:rPr lang="en-US" sz="9900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HƯỚNG PHÁT TRIỂN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38536" y="2299889"/>
            <a:ext cx="14010929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Tạo giao diện trực quan với hình nền phong phú, biểu tượng bắt mắt, màu sắc tươi sáng và hiệu ứng chuyển động để thu hút người chơi</a:t>
            </a: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593A1E"/>
              </a:solidFill>
              <a:latin typeface="Ruda"/>
              <a:ea typeface="Ruda"/>
              <a:cs typeface="Ruda"/>
              <a:sym typeface="Ruda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864013" y="4025819"/>
            <a:ext cx="14559974" cy="1589960"/>
            <a:chOff x="0" y="0"/>
            <a:chExt cx="3834726" cy="4187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34726" cy="418755"/>
            </a:xfrm>
            <a:custGeom>
              <a:avLst/>
              <a:gdLst/>
              <a:ahLst/>
              <a:cxnLst/>
              <a:rect l="l" t="t" r="r" b="b"/>
              <a:pathLst>
                <a:path w="3834726" h="418755">
                  <a:moveTo>
                    <a:pt x="27118" y="0"/>
                  </a:moveTo>
                  <a:lnTo>
                    <a:pt x="3807608" y="0"/>
                  </a:lnTo>
                  <a:cubicBezTo>
                    <a:pt x="3822585" y="0"/>
                    <a:pt x="3834726" y="12141"/>
                    <a:pt x="3834726" y="27118"/>
                  </a:cubicBezTo>
                  <a:lnTo>
                    <a:pt x="3834726" y="391637"/>
                  </a:lnTo>
                  <a:cubicBezTo>
                    <a:pt x="3834726" y="406614"/>
                    <a:pt x="3822585" y="418755"/>
                    <a:pt x="3807608" y="418755"/>
                  </a:cubicBezTo>
                  <a:lnTo>
                    <a:pt x="27118" y="418755"/>
                  </a:lnTo>
                  <a:cubicBezTo>
                    <a:pt x="19926" y="418755"/>
                    <a:pt x="13028" y="415898"/>
                    <a:pt x="7943" y="410812"/>
                  </a:cubicBezTo>
                  <a:cubicBezTo>
                    <a:pt x="2857" y="405727"/>
                    <a:pt x="0" y="398829"/>
                    <a:pt x="0" y="391637"/>
                  </a:cubicBezTo>
                  <a:lnTo>
                    <a:pt x="0" y="27118"/>
                  </a:lnTo>
                  <a:cubicBezTo>
                    <a:pt x="0" y="12141"/>
                    <a:pt x="12141" y="0"/>
                    <a:pt x="271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834726" cy="456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15035" y="4377349"/>
            <a:ext cx="14010929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Phát triển nhiều cấp độ với độ khó tăng dần, bối cảnh và vật phẩm độc quyền nhằm tăng tính khám phá và thách thức</a:t>
            </a: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593A1E"/>
              </a:solidFill>
              <a:latin typeface="Ruda"/>
              <a:ea typeface="Ruda"/>
              <a:cs typeface="Ruda"/>
              <a:sym typeface="Ruda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864013" y="6229248"/>
            <a:ext cx="14559974" cy="1589960"/>
            <a:chOff x="0" y="0"/>
            <a:chExt cx="3834726" cy="4187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34726" cy="418755"/>
            </a:xfrm>
            <a:custGeom>
              <a:avLst/>
              <a:gdLst/>
              <a:ahLst/>
              <a:cxnLst/>
              <a:rect l="l" t="t" r="r" b="b"/>
              <a:pathLst>
                <a:path w="3834726" h="418755">
                  <a:moveTo>
                    <a:pt x="27118" y="0"/>
                  </a:moveTo>
                  <a:lnTo>
                    <a:pt x="3807608" y="0"/>
                  </a:lnTo>
                  <a:cubicBezTo>
                    <a:pt x="3822585" y="0"/>
                    <a:pt x="3834726" y="12141"/>
                    <a:pt x="3834726" y="27118"/>
                  </a:cubicBezTo>
                  <a:lnTo>
                    <a:pt x="3834726" y="391637"/>
                  </a:lnTo>
                  <a:cubicBezTo>
                    <a:pt x="3834726" y="406614"/>
                    <a:pt x="3822585" y="418755"/>
                    <a:pt x="3807608" y="418755"/>
                  </a:cubicBezTo>
                  <a:lnTo>
                    <a:pt x="27118" y="418755"/>
                  </a:lnTo>
                  <a:cubicBezTo>
                    <a:pt x="19926" y="418755"/>
                    <a:pt x="13028" y="415898"/>
                    <a:pt x="7943" y="410812"/>
                  </a:cubicBezTo>
                  <a:cubicBezTo>
                    <a:pt x="2857" y="405727"/>
                    <a:pt x="0" y="398829"/>
                    <a:pt x="0" y="391637"/>
                  </a:cubicBezTo>
                  <a:lnTo>
                    <a:pt x="0" y="27118"/>
                  </a:lnTo>
                  <a:cubicBezTo>
                    <a:pt x="0" y="12141"/>
                    <a:pt x="12141" y="0"/>
                    <a:pt x="271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4AC78"/>
              </a:solidFill>
              <a:prstDash val="lgDash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834726" cy="456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264047" y="6455704"/>
            <a:ext cx="14010929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Bổ sung các chướng ngại như thuốc nổ, bẫy, quái vật, động vật di chuyển để tạo thử thách đa dạng và làm game hấp dẫn hơn.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13025" y="8408924"/>
            <a:ext cx="14261951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593A1E"/>
                </a:solidFill>
                <a:latin typeface="Ruda"/>
                <a:ea typeface="Ruda"/>
                <a:cs typeface="Ruda"/>
                <a:sym typeface="Ruda"/>
              </a:rPr>
              <a:t>Bổ sung tính năng nâng cấp nhân vật (tăng tốc độ, sức mạnh) và vật phẩm đặc biệt giúp người chơi tùy chỉnh chiến thuật.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>
          <a:xfrm>
            <a:off x="7821711" y="9921875"/>
            <a:ext cx="2895600" cy="365125"/>
          </a:xfrm>
        </p:spPr>
        <p:txBody>
          <a:bodyPr/>
          <a:lstStyle/>
          <a:p>
            <a:r>
              <a:rPr lang="vi-VN" sz="2400" dirty="0" smtClean="0"/>
              <a:t>08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9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32999" y="7693559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97601" y="-743723"/>
            <a:ext cx="4923398" cy="3544847"/>
          </a:xfrm>
          <a:custGeom>
            <a:avLst/>
            <a:gdLst/>
            <a:ahLst/>
            <a:cxnLst/>
            <a:rect l="l" t="t" r="r" b="b"/>
            <a:pathLst>
              <a:path w="4923398" h="3544847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38259" y="8442759"/>
            <a:ext cx="4057330" cy="3688482"/>
          </a:xfrm>
          <a:custGeom>
            <a:avLst/>
            <a:gdLst/>
            <a:ahLst/>
            <a:cxnLst/>
            <a:rect l="l" t="t" r="r" b="b"/>
            <a:pathLst>
              <a:path w="4057330" h="3688482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893605" y="-1510626"/>
            <a:ext cx="4308302" cy="3916638"/>
          </a:xfrm>
          <a:custGeom>
            <a:avLst/>
            <a:gdLst/>
            <a:ahLst/>
            <a:cxnLst/>
            <a:rect l="l" t="t" r="r" b="b"/>
            <a:pathLst>
              <a:path w="4308302" h="3916638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H="1">
            <a:off x="17099921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-2260609" y="3799892"/>
            <a:ext cx="3421224" cy="2687216"/>
          </a:xfrm>
          <a:custGeom>
            <a:avLst/>
            <a:gdLst/>
            <a:ahLst/>
            <a:cxnLst/>
            <a:rect l="l" t="t" r="r" b="b"/>
            <a:pathLst>
              <a:path w="3421224" h="2687216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66718" y="3431343"/>
            <a:ext cx="10354563" cy="396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29"/>
              </a:lnSpc>
            </a:pPr>
            <a:r>
              <a:rPr lang="en-US" sz="17160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THANK</a:t>
            </a:r>
          </a:p>
          <a:p>
            <a:pPr algn="ctr">
              <a:lnSpc>
                <a:spcPts val="14929"/>
              </a:lnSpc>
            </a:pPr>
            <a:r>
              <a:rPr lang="en-US" sz="17160" b="1">
                <a:solidFill>
                  <a:srgbClr val="593A1E"/>
                </a:solidFill>
                <a:latin typeface="Ruda Heavy"/>
                <a:ea typeface="Ruda Heavy"/>
                <a:cs typeface="Ruda Heavy"/>
                <a:sym typeface="Ruda Heavy"/>
              </a:rPr>
              <a:t>You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07004" y="9478682"/>
            <a:ext cx="2895600" cy="365125"/>
          </a:xfrm>
        </p:spPr>
        <p:txBody>
          <a:bodyPr/>
          <a:lstStyle/>
          <a:p>
            <a:r>
              <a:rPr lang="vi-VN" sz="2400" dirty="0" smtClean="0"/>
              <a:t>09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384</Words>
  <Application>Microsoft Office PowerPoint</Application>
  <PresentationFormat>Custom</PresentationFormat>
  <Paragraphs>56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Calibri</vt:lpstr>
      <vt:lpstr>Ruda Bold</vt:lpstr>
      <vt:lpstr>Stella</vt:lpstr>
      <vt:lpstr>Open Sans</vt:lpstr>
      <vt:lpstr>Ruda</vt:lpstr>
      <vt:lpstr>Ruda Heavy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Digger nhóm 7</dc:title>
  <cp:lastModifiedBy>HP</cp:lastModifiedBy>
  <cp:revision>5</cp:revision>
  <dcterms:created xsi:type="dcterms:W3CDTF">2006-08-16T00:00:00Z</dcterms:created>
  <dcterms:modified xsi:type="dcterms:W3CDTF">2024-11-01T03:48:00Z</dcterms:modified>
  <dc:identifier>DAGU2sJYQ2A</dc:identifier>
</cp:coreProperties>
</file>